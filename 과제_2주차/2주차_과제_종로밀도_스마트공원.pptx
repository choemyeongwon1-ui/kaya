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건물밀도</c:v>
                </c:pt>
              </c:strCache>
            </c:strRef>
          </c:tx>
          <c:spPr>
            <a:solidFill>
              <a:srgbClr val="1F4E9C"/>
            </a:solidFill>
          </c:spPr>
          <c:cat>
            <c:strRef>
              <c:f>Sheet1!$A$2:$A$6</c:f>
              <c:strCache>
                <c:ptCount val="5"/>
                <c:pt idx="0">
                  <c:v>0–1km</c:v>
                </c:pt>
                <c:pt idx="1">
                  <c:v>1–2km</c:v>
                </c:pt>
                <c:pt idx="2">
                  <c:v>2–3km</c:v>
                </c:pt>
                <c:pt idx="3">
                  <c:v>3–4km</c:v>
                </c:pt>
                <c:pt idx="4">
                  <c:v>4–5km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1263.4</c:v>
                </c:pt>
                <c:pt idx="1">
                  <c:v>940.0</c:v>
                </c:pt>
                <c:pt idx="2">
                  <c:v>407.0</c:v>
                </c:pt>
                <c:pt idx="3">
                  <c:v>384.6</c:v>
                </c:pt>
                <c:pt idx="4">
                  <c:v>404.9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용도기재 건물밀도</c:v>
                </c:pt>
              </c:strCache>
            </c:strRef>
          </c:tx>
          <c:spPr>
            <a:solidFill>
              <a:srgbClr val="C0521F"/>
            </a:solidFill>
          </c:spPr>
          <c:cat>
            <c:strRef>
              <c:f>Sheet1!$A$2:$A$6</c:f>
              <c:strCache>
                <c:ptCount val="5"/>
                <c:pt idx="0">
                  <c:v>0–1km</c:v>
                </c:pt>
                <c:pt idx="1">
                  <c:v>1–2km</c:v>
                </c:pt>
                <c:pt idx="2">
                  <c:v>2–3km</c:v>
                </c:pt>
                <c:pt idx="3">
                  <c:v>3–4km</c:v>
                </c:pt>
                <c:pt idx="4">
                  <c:v>4–5km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405.2</c:v>
                </c:pt>
                <c:pt idx="1">
                  <c:v>239.8</c:v>
                </c:pt>
                <c:pt idx="2">
                  <c:v>87.9</c:v>
                </c:pt>
                <c:pt idx="3">
                  <c:v>116.1</c:v>
                </c:pt>
                <c:pt idx="4">
                  <c:v>131.3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latin typeface="Malgun Gothic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74320"/>
            <a:ext cx="91440" cy="292608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"/>
            <a:ext cx="6858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/>
            <a:r>
              <a:rPr sz="1400" b="1" i="0" lang="ko-KR" spc="120">
                <a:solidFill>
                  <a:srgbClr val="1F4E9C"/>
                </a:solidFill>
                <a:latin typeface="Malgun Gothic"/>
                <a:ea typeface="Malgun Gothic"/>
              </a:rPr>
              <a:t>과제 ①  개념 다이어그램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2800" b="1" i="0" lang="ko-KR">
                <a:solidFill>
                  <a:srgbClr val="1F3A68"/>
                </a:solidFill>
                <a:latin typeface="Malgun Gothic"/>
                <a:ea typeface="Malgun Gothic"/>
              </a:rPr>
              <a:t>동심원 이론을 대상지에 대입하면 어디서 어긋나는가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46888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eaLnBrk="0"/>
            <a:r>
              <a:rPr sz="1100" b="0" i="0" lang="ko-KR">
                <a:solidFill>
                  <a:srgbClr val="262B33"/>
                </a:solidFill>
                <a:latin typeface="Malgun Gothic"/>
                <a:ea typeface="Malgun Gothic"/>
              </a:rPr>
              <a:t>스마트도시계획(캡스톤디자인) |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84280" y="201168"/>
            <a:ext cx="457200" cy="4572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400" b="1" i="0" lang="ko-KR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1234440" y="1600200"/>
            <a:ext cx="4114800" cy="4114800"/>
          </a:xfrm>
          <a:prstGeom prst="ellipse">
            <a:avLst/>
          </a:prstGeom>
          <a:solidFill>
            <a:srgbClr val="E9EF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45920" y="2011680"/>
            <a:ext cx="3291840" cy="3291840"/>
          </a:xfrm>
          <a:prstGeom prst="ellipse">
            <a:avLst/>
          </a:prstGeom>
          <a:solidFill>
            <a:srgbClr val="CCDC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2423160"/>
            <a:ext cx="2468880" cy="2468880"/>
          </a:xfrm>
          <a:prstGeom prst="ellipse">
            <a:avLst/>
          </a:prstGeom>
          <a:solidFill>
            <a:srgbClr val="9FBE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2834640"/>
            <a:ext cx="1645920" cy="1645920"/>
          </a:xfrm>
          <a:prstGeom prst="ellipse">
            <a:avLst/>
          </a:prstGeom>
          <a:solidFill>
            <a:srgbClr val="5B8AC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80360" y="3246120"/>
            <a:ext cx="822960" cy="822960"/>
          </a:xfrm>
          <a:prstGeom prst="ellipse">
            <a:avLst/>
          </a:prstGeom>
          <a:solidFill>
            <a:srgbClr val="1F4E9C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78608" y="3278124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100000"/>
              </a:lnSpc>
            </a:pPr>
            <a:r>
              <a:rPr sz="900" b="1" i="0" lang="ko-KR">
                <a:solidFill>
                  <a:srgbClr val="FFFFFF"/>
                </a:solidFill>
                <a:latin typeface="Malgun Gothic"/>
                <a:ea typeface="Malgun Gothic"/>
              </a:rPr>
              <a:t>0–1km</a:t>
            </a:r>
          </a:p>
          <a:p>
            <a:pPr algn="ctr" eaLnBrk="0">
              <a:lnSpc>
                <a:spcPct val="100000"/>
              </a:lnSpc>
            </a:pPr>
            <a:r>
              <a:rPr sz="900" b="0" i="0" lang="ko-KR">
                <a:solidFill>
                  <a:srgbClr val="FFFFFF"/>
                </a:solidFill>
                <a:latin typeface="Malgun Gothic"/>
                <a:ea typeface="Malgun Gothic"/>
              </a:rPr>
              <a:t>1,263동/km²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2866644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100000"/>
              </a:lnSpc>
            </a:pPr>
            <a:r>
              <a:rPr sz="900" b="1" i="0" lang="ko-KR">
                <a:solidFill>
                  <a:srgbClr val="FFFFFF"/>
                </a:solidFill>
                <a:latin typeface="Malgun Gothic"/>
                <a:ea typeface="Malgun Gothic"/>
              </a:rPr>
              <a:t>1–2km</a:t>
            </a:r>
          </a:p>
          <a:p>
            <a:pPr algn="ctr" eaLnBrk="0">
              <a:lnSpc>
                <a:spcPct val="100000"/>
              </a:lnSpc>
            </a:pPr>
            <a:r>
              <a:rPr sz="900" b="0" i="0" lang="ko-KR">
                <a:solidFill>
                  <a:srgbClr val="FFFFFF"/>
                </a:solidFill>
                <a:latin typeface="Malgun Gothic"/>
                <a:ea typeface="Malgun Gothic"/>
              </a:rPr>
              <a:t>940동/km²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2455164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100000"/>
              </a:lnSpc>
            </a:pPr>
            <a:r>
              <a:rPr sz="900" b="1" i="0" lang="ko-KR">
                <a:solidFill>
                  <a:srgbClr val="1F3A68"/>
                </a:solidFill>
                <a:latin typeface="Malgun Gothic"/>
                <a:ea typeface="Malgun Gothic"/>
              </a:rPr>
              <a:t>2–3km</a:t>
            </a:r>
          </a:p>
          <a:p>
            <a:pPr algn="ctr" eaLnBrk="0">
              <a:lnSpc>
                <a:spcPct val="100000"/>
              </a:lnSpc>
            </a:pPr>
            <a:r>
              <a:rPr sz="900" b="0" i="0" lang="ko-KR">
                <a:solidFill>
                  <a:srgbClr val="1F3A68"/>
                </a:solidFill>
                <a:latin typeface="Malgun Gothic"/>
                <a:ea typeface="Malgun Gothic"/>
              </a:rPr>
              <a:t>407동/km²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043684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100000"/>
              </a:lnSpc>
            </a:pPr>
            <a:r>
              <a:rPr sz="900" b="1" i="0" lang="ko-KR">
                <a:solidFill>
                  <a:srgbClr val="1F3A68"/>
                </a:solidFill>
                <a:latin typeface="Malgun Gothic"/>
                <a:ea typeface="Malgun Gothic"/>
              </a:rPr>
              <a:t>3–4km</a:t>
            </a:r>
          </a:p>
          <a:p>
            <a:pPr algn="ctr" eaLnBrk="0">
              <a:lnSpc>
                <a:spcPct val="100000"/>
              </a:lnSpc>
            </a:pPr>
            <a:r>
              <a:rPr sz="900" b="0" i="0" lang="ko-KR">
                <a:solidFill>
                  <a:srgbClr val="1F3A68"/>
                </a:solidFill>
                <a:latin typeface="Malgun Gothic"/>
                <a:ea typeface="Malgun Gothic"/>
              </a:rPr>
              <a:t>385동/km²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1632204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100000"/>
              </a:lnSpc>
            </a:pPr>
            <a:r>
              <a:rPr sz="900" b="1" i="0" lang="ko-KR">
                <a:solidFill>
                  <a:srgbClr val="1F3A68"/>
                </a:solidFill>
                <a:latin typeface="Malgun Gothic"/>
                <a:ea typeface="Malgun Gothic"/>
              </a:rPr>
              <a:t>4–5km</a:t>
            </a:r>
          </a:p>
          <a:p>
            <a:pPr algn="ctr" eaLnBrk="0">
              <a:lnSpc>
                <a:spcPct val="100000"/>
              </a:lnSpc>
            </a:pPr>
            <a:r>
              <a:rPr sz="900" b="0" i="0" lang="ko-KR">
                <a:solidFill>
                  <a:srgbClr val="1F3A68"/>
                </a:solidFill>
                <a:latin typeface="Malgun Gothic"/>
                <a:ea typeface="Malgun Gothic"/>
              </a:rPr>
              <a:t>405동/km²</a:t>
            </a:r>
          </a:p>
        </p:txBody>
      </p:sp>
      <p:sp>
        <p:nvSpPr>
          <p:cNvPr id="18" name="Oval 17"/>
          <p:cNvSpPr/>
          <p:nvPr/>
        </p:nvSpPr>
        <p:spPr>
          <a:xfrm>
            <a:off x="3209544" y="3575304"/>
            <a:ext cx="164592" cy="164592"/>
          </a:xfrm>
          <a:prstGeom prst="ellipse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100" b="1" i="0" lang="ko-KR">
                <a:solidFill>
                  <a:srgbClr val="FFFFFF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785615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/>
            <a:r>
              <a:rPr sz="900" b="1" i="0" lang="ko-KR">
                <a:solidFill>
                  <a:srgbClr val="FFFFFF"/>
                </a:solidFill>
                <a:latin typeface="Malgun Gothic"/>
                <a:ea typeface="Malgun Gothic"/>
              </a:rPr>
              <a:t>중심 종로구청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/>
            <a:r>
              <a:rPr sz="1000" b="0" i="0" lang="ko-KR">
                <a:solidFill>
                  <a:srgbClr val="6B7280"/>
                </a:solidFill>
                <a:latin typeface="Malgun Gothic"/>
                <a:ea typeface="Malgun Gothic"/>
              </a:rPr>
              <a:t>원 = 1km 간격 권역, 색 농도 = 건물밀도(동/km²)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554480"/>
            <a:ext cx="5257800" cy="41605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1554480"/>
            <a:ext cx="64008" cy="416052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7373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300" b="1" i="0" lang="ko-KR">
                <a:solidFill>
                  <a:srgbClr val="1F4E9C"/>
                </a:solidFill>
                <a:latin typeface="Malgun Gothic"/>
                <a:ea typeface="Malgun Gothic"/>
              </a:rPr>
              <a:t>버제스 동심원 이론(1925) → 대상지 대입</a:t>
            </a:r>
          </a:p>
        </p:txBody>
      </p:sp>
      <p:sp>
        <p:nvSpPr>
          <p:cNvPr id="24" name="Oval 23"/>
          <p:cNvSpPr/>
          <p:nvPr/>
        </p:nvSpPr>
        <p:spPr>
          <a:xfrm>
            <a:off x="6675120" y="2167128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214884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중심업무지구(CBD) · 0–1km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상업·업무 밀도 244동/km²로 최고, 건물밀도도 1,263동/km²로 가장 높음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2871216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852928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점이지대 · 1–2km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상업·업무가 95동/km²로 급감(1/2.6배)하고 주거 86동/km²와 섞임</a:t>
            </a:r>
          </a:p>
        </p:txBody>
      </p:sp>
      <p:sp>
        <p:nvSpPr>
          <p:cNvPr id="28" name="Oval 27"/>
          <p:cNvSpPr/>
          <p:nvPr/>
        </p:nvSpPr>
        <p:spPr>
          <a:xfrm>
            <a:off x="6675120" y="3575304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3557016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노동자 주거지대 · 2–3km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밀도 407동/km²로 최저 — 북악산·인왕산·경복궁이 들어와 이론과 어긋남</a:t>
            </a:r>
          </a:p>
        </p:txBody>
      </p:sp>
      <p:sp>
        <p:nvSpPr>
          <p:cNvPr id="30" name="Oval 29"/>
          <p:cNvSpPr/>
          <p:nvPr/>
        </p:nvSpPr>
        <p:spPr>
          <a:xfrm>
            <a:off x="6675120" y="4279392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261104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일반 주거지대 · 3–4km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주거 밀도가 74동/km²로 회복, 상업·업무는 20동/km²까지 하락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983479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4965192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통근자 지대 · 4–5km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주거 밀도 86동/km²로 최고 — 도심 밖 주거지 성격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053328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000" b="1" i="0" lang="ko-KR">
                <a:solidFill>
                  <a:srgbClr val="1F4E9C"/>
                </a:solidFill>
                <a:latin typeface="Malgun Gothic"/>
                <a:ea typeface="Malgun Gothic"/>
              </a:rPr>
              <a:t>이론이 맞은 부분: </a:t>
            </a: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상업·업무 밀도는 중심에서 바깥으로 244 → 31동/km²로 단조 감소함.  </a:t>
            </a:r>
            <a:r>
              <a:rPr sz="1000" b="1" i="0" lang="ko-KR">
                <a:solidFill>
                  <a:srgbClr val="C0521F"/>
                </a:solidFill>
                <a:latin typeface="Malgun Gothic"/>
                <a:ea typeface="Malgun Gothic"/>
              </a:rPr>
              <a:t>어긋난 부분: </a:t>
            </a: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주거는 U자형(2–3km에서 최저) — 산지·궁궐이 지대를 끊어 동심원이 성립하지 않음.  </a:t>
            </a:r>
            <a:r>
              <a:rPr sz="1000" b="1" i="0" lang="ko-KR">
                <a:solidFill>
                  <a:srgbClr val="C0521F"/>
                </a:solidFill>
                <a:latin typeface="Malgun Gothic"/>
                <a:ea typeface="Malgun Gothic"/>
              </a:rPr>
              <a:t>해석의 한계: </a:t>
            </a: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용도 기재율이 권역마다 21.6~32.4%로 달라, 용도별 밀도 비교는 보정 없이는 단정할 수 없음.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836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950" b="0" i="1" lang="ko-KR">
                <a:solidFill>
                  <a:srgbClr val="6B7280"/>
                </a:solidFill>
                <a:latin typeface="Malgun Gothic"/>
                <a:ea typeface="Malgun Gothic"/>
              </a:rPr>
              <a:t>출처: OpenStreetMap · Overpass API 조회 2026.09.14 (OSM 기준일 2026.09.14) · 중심 종로구청 37.5735, 126.9788 · 분류 기준 building 태그(building=yes는 미분류) · 표 원본 CSV 동봉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74320"/>
            <a:ext cx="91440" cy="292608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"/>
            <a:ext cx="6858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/>
            <a:r>
              <a:rPr sz="1400" b="1" i="0" lang="ko-KR" spc="120">
                <a:solidFill>
                  <a:srgbClr val="1F4E9C"/>
                </a:solidFill>
                <a:latin typeface="Malgun Gothic"/>
                <a:ea typeface="Malgun Gothic"/>
              </a:rPr>
              <a:t>참고  대상지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2800" b="1" i="0" lang="ko-KR">
                <a:solidFill>
                  <a:srgbClr val="1F3A68"/>
                </a:solidFill>
                <a:latin typeface="Malgun Gothic"/>
                <a:ea typeface="Malgun Gothic"/>
              </a:rPr>
              <a:t>반경 3km 건물 용도 분포 — 집계의 근거가 된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46888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eaLnBrk="0"/>
            <a:r>
              <a:rPr sz="1100" b="0" i="0" lang="ko-KR">
                <a:solidFill>
                  <a:srgbClr val="262B33"/>
                </a:solidFill>
                <a:latin typeface="Malgun Gothic"/>
                <a:ea typeface="Malgun Gothic"/>
              </a:rPr>
              <a:t>스마트도시계획(캡스톤디자인) |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84280" y="201168"/>
            <a:ext cx="457200" cy="4572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400" b="1" i="0" lang="ko-KR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pic>
        <p:nvPicPr>
          <p:cNvPr id="8" name="Picture 7" descr="site_map_3k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752901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26480"/>
            <a:ext cx="57529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/>
            <a:r>
              <a:rPr sz="1000" b="0" i="0" lang="ko-KR">
                <a:solidFill>
                  <a:srgbClr val="6B7280"/>
                </a:solidFill>
                <a:latin typeface="Malgun Gothic"/>
                <a:ea typeface="Malgun Gothic"/>
              </a:rPr>
              <a:t>반경 3km 설정 화면 — 색은 용도, 회색 점은 반경 밖(5km까지 수집한 범위)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3021" y="1508760"/>
            <a:ext cx="4930033" cy="45262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13021" y="1508760"/>
            <a:ext cx="64008" cy="452628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7341" y="1691640"/>
            <a:ext cx="438139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300" b="1" i="0" lang="ko-KR">
                <a:solidFill>
                  <a:srgbClr val="1F4E9C"/>
                </a:solidFill>
                <a:latin typeface="Malgun Gothic"/>
                <a:ea typeface="Malgun Gothic"/>
              </a:rPr>
              <a:t>지도에서 읽히는 것</a:t>
            </a:r>
          </a:p>
        </p:txBody>
      </p:sp>
      <p:sp>
        <p:nvSpPr>
          <p:cNvPr id="13" name="Oval 12"/>
          <p:cNvSpPr/>
          <p:nvPr/>
        </p:nvSpPr>
        <p:spPr>
          <a:xfrm>
            <a:off x="6987341" y="2167128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1389" y="2148840"/>
            <a:ext cx="399734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반경 3km · 19,220동 · 용도 기재율 25.6%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지도의 반경을 바꾸면 집계가 즉시 다시 계산됨 — ②의 1km 링 표도 같은 데이터로 산출</a:t>
            </a:r>
          </a:p>
        </p:txBody>
      </p:sp>
      <p:sp>
        <p:nvSpPr>
          <p:cNvPr id="15" name="Oval 14"/>
          <p:cNvSpPr/>
          <p:nvPr/>
        </p:nvSpPr>
        <p:spPr>
          <a:xfrm>
            <a:off x="6987341" y="3127248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1389" y="3108960"/>
            <a:ext cx="399734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주황(미분류)이 도심 전역을 덮음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74.4%가 building=yes라 용도를 알 수 없음 — 구성비보다 기재율을 먼저 확인해야 하는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6987341" y="4087368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1389" y="4069080"/>
            <a:ext cx="399734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용도가 기재된 건물은 구역별로 뭉쳐 있음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파랑(상업·업무)은 종로·을지로 축에, 하늘색(주거)은 서촌·북촌 일부에 몰림 — 자원봉사 매핑이라 커버리지가 고르지 않음</a:t>
            </a:r>
          </a:p>
        </p:txBody>
      </p:sp>
      <p:sp>
        <p:nvSpPr>
          <p:cNvPr id="19" name="Oval 18"/>
          <p:cNvSpPr/>
          <p:nvPr/>
        </p:nvSpPr>
        <p:spPr>
          <a:xfrm>
            <a:off x="6987341" y="5047488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389" y="5029200"/>
            <a:ext cx="399734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건물이 비는 구역 = 산지·궁궐</a:t>
            </a:r>
          </a:p>
          <a:p>
            <a:pPr algn="l" eaLnBrk="0">
              <a:lnSpc>
                <a:spcPct val="112000"/>
              </a:lnSpc>
            </a:pPr>
            <a:r>
              <a:rPr sz="1000" b="0" i="0" lang="ko-KR">
                <a:solidFill>
                  <a:srgbClr val="262B33"/>
                </a:solidFill>
                <a:latin typeface="Malgun Gothic"/>
                <a:ea typeface="Malgun Gothic"/>
              </a:rPr>
              <a:t>북악산·인왕산과 경복궁·창덕궁이 2–3km 권역에 들어와, ①의 동심원 가정이 깨지는 지점과 일치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950" b="0" i="1" lang="ko-KR">
                <a:solidFill>
                  <a:srgbClr val="6B7280"/>
                </a:solidFill>
                <a:latin typeface="Malgun Gothic"/>
                <a:ea typeface="Malgun Gothic"/>
              </a:rPr>
              <a:t>지도 도구: 팀 제작 map.html(제출물 '참고_건물용도지도.html') · 출처: OpenStreetMap · Overpass API 조회 2026.09.14 (OSM 기준일 2026.09.14) · 중심 종로구청 37.5735, 126.9788 · 분류 기준 building 태그(building=yes는 미분류) · 표 원본 CSV 동봉 · 반경 판정은 건물 중심점 기준이라 Overpass around 집계(19,332동)보다 112동 적음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74320"/>
            <a:ext cx="91440" cy="292608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"/>
            <a:ext cx="6858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/>
            <a:r>
              <a:rPr sz="1400" b="1" i="0" lang="ko-KR" spc="120">
                <a:solidFill>
                  <a:srgbClr val="1F4E9C"/>
                </a:solidFill>
                <a:latin typeface="Malgun Gothic"/>
                <a:ea typeface="Malgun Gothic"/>
              </a:rPr>
              <a:t>과제 ②  권역별 밀도 집계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2800" b="1" i="0" lang="ko-KR">
                <a:solidFill>
                  <a:srgbClr val="1F3A68"/>
                </a:solidFill>
                <a:latin typeface="Malgun Gothic"/>
                <a:ea typeface="Malgun Gothic"/>
              </a:rPr>
              <a:t>1km 간격 링 — 개수가 아니라 밀도(동/km²)로 환산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46888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eaLnBrk="0"/>
            <a:r>
              <a:rPr sz="1100" b="0" i="0" lang="ko-KR">
                <a:solidFill>
                  <a:srgbClr val="262B33"/>
                </a:solidFill>
                <a:latin typeface="Malgun Gothic"/>
                <a:ea typeface="Malgun Gothic"/>
              </a:rPr>
              <a:t>스마트도시계획(캡스톤디자인) |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84280" y="201168"/>
            <a:ext cx="457200" cy="4572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400" b="1" i="0" lang="ko-KR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0642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960120"/>
                <a:gridCol w="1143000"/>
                <a:gridCol w="1325880"/>
                <a:gridCol w="1325880"/>
                <a:gridCol w="1417320"/>
                <a:gridCol w="100584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권역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면적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(km²)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건물 수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(동)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건물밀도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(동/km²)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용도기재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건물 수(동)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용도기재밀도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(동/km²)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용도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기재율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상업·업무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(동/km²)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주거</a:t>
                      </a:r>
                    </a:p>
                    <a:p>
                      <a:pPr algn="ctr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(동/km²)</a:t>
                      </a:r>
                    </a:p>
                  </a:txBody>
                  <a:tcPr marL="45720" marR="45720" marT="27432" marB="27432" anchor="ctr">
                    <a:solidFill>
                      <a:srgbClr val="1F3A6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0–1km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3.14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3,969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1,263.4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1,273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405.2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32.1%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244.5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81.8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1–2km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9.42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8,859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940.0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2,260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239.8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25.5%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95.2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85.6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2–3km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15.71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6,393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407.0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1,380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87.9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21.6%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27.8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36.0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3–4km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21.99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8,458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384.6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2,553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116.1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30.2%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19.6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74.3</a:t>
                      </a:r>
                    </a:p>
                  </a:txBody>
                  <a:tcPr marL="45720" marR="45720" marT="27432" marB="27432" anchor="ctr"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4–5km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28.27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11,447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404.9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3,713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131.3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32.4%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31.3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86.4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합계 0–5km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78.54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39,126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498.2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11,179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142.3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28.6%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43.5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72.7</a:t>
                      </a:r>
                    </a:p>
                  </a:txBody>
                  <a:tcPr marL="45720" marR="45720" marT="27432" marB="27432" anchor="ctr">
                    <a:solidFill>
                      <a:srgbClr val="E8EE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48640" y="4023360"/>
          <a:ext cx="63093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7086600" y="4023360"/>
            <a:ext cx="4572000" cy="2286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86600" y="4023360"/>
            <a:ext cx="64008" cy="22860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4206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200" b="1" i="0" lang="ko-KR">
                <a:solidFill>
                  <a:srgbClr val="1F4E9C"/>
                </a:solidFill>
                <a:latin typeface="Malgun Gothic"/>
                <a:ea typeface="Malgun Gothic"/>
              </a:rPr>
              <a:t>읽는 법</a:t>
            </a:r>
          </a:p>
        </p:txBody>
      </p:sp>
      <p:sp>
        <p:nvSpPr>
          <p:cNvPr id="13" name="Oval 12"/>
          <p:cNvSpPr/>
          <p:nvPr/>
        </p:nvSpPr>
        <p:spPr>
          <a:xfrm>
            <a:off x="7360920" y="4590288"/>
            <a:ext cx="237744" cy="237744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900" b="1" i="0" lang="ko-KR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4572000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밀도로 바꾸면 순위가 뒤집힘: 4–5km 권역은 건물 수가 11,447동으로 가장 많지만, 면적이 28.3km²라 밀도는 405동/km²로 0–1km(1,263)의 3분의 1 수준임</a:t>
            </a:r>
          </a:p>
        </p:txBody>
      </p:sp>
      <p:sp>
        <p:nvSpPr>
          <p:cNvPr id="15" name="Oval 14"/>
          <p:cNvSpPr/>
          <p:nvPr/>
        </p:nvSpPr>
        <p:spPr>
          <a:xfrm>
            <a:off x="7360920" y="5166359"/>
            <a:ext cx="237744" cy="237744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900" b="1" i="0" lang="ko-KR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5148072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2–3km가 407동/km²로 가장 낮음 — 북악산·인왕산과 경복궁·창덕궁이 이 권역에 들어옴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5742431"/>
            <a:ext cx="237744" cy="237744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900" b="1" i="0" lang="ko-KR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9248" y="5724144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2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용도기재밀도(주황)는 모든 권역에서 절반 이하 — 기재율 21.6~32.4%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950" b="0" i="1" lang="ko-KR">
                <a:solidFill>
                  <a:srgbClr val="6B7280"/>
                </a:solidFill>
                <a:latin typeface="Malgun Gothic"/>
                <a:ea typeface="Malgun Gothic"/>
              </a:rPr>
              <a:t>출처: OpenStreetMap · Overpass API 조회 2026.09.14 (OSM 기준일 2026.09.14) · 중심 종로구청 37.5735, 126.9788 · 분류 기준 building 태그(building=yes는 미분류) · 표 원본 CSV 동봉 · 면적 = π(r_out²−r_in²), 건물 중심점 기준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74320"/>
            <a:ext cx="91440" cy="292608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"/>
            <a:ext cx="6858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/>
            <a:r>
              <a:rPr sz="1400" b="1" i="0" lang="ko-KR" spc="120">
                <a:solidFill>
                  <a:srgbClr val="1F4E9C"/>
                </a:solidFill>
                <a:latin typeface="Malgun Gothic"/>
                <a:ea typeface="Malgun Gothic"/>
              </a:rPr>
              <a:t>과제 ③  스마트공원 요소 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2800" b="1" i="0" lang="ko-KR">
                <a:solidFill>
                  <a:srgbClr val="1F3A68"/>
                </a:solidFill>
                <a:latin typeface="Malgun Gothic"/>
                <a:ea typeface="Malgun Gothic"/>
              </a:rPr>
              <a:t>효과 × 난이도 — 먼저 깔 것과 나중에 붙일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46888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eaLnBrk="0"/>
            <a:r>
              <a:rPr sz="1100" b="0" i="0" lang="ko-KR">
                <a:solidFill>
                  <a:srgbClr val="262B33"/>
                </a:solidFill>
                <a:latin typeface="Malgun Gothic"/>
                <a:ea typeface="Malgun Gothic"/>
              </a:rPr>
              <a:t>스마트도시계획(캡스톤디자인) |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84280" y="201168"/>
            <a:ext cx="457200" cy="4572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400" b="1" i="0" lang="ko-KR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737360"/>
            <a:ext cx="2423160" cy="1920240"/>
          </a:xfrm>
          <a:prstGeom prst="rect">
            <a:avLst/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737360"/>
            <a:ext cx="2423160" cy="1920240"/>
          </a:xfrm>
          <a:prstGeom prst="rect">
            <a:avLst/>
          </a:prstGeom>
          <a:solidFill>
            <a:srgbClr val="E8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3657600"/>
            <a:ext cx="2423160" cy="19202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3657600"/>
            <a:ext cx="2423160" cy="1920240"/>
          </a:xfrm>
          <a:prstGeom prst="rect">
            <a:avLst/>
          </a:prstGeom>
          <a:solidFill>
            <a:srgbClr val="FA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81051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000" b="1" i="0" lang="ko-KR">
                <a:solidFill>
                  <a:srgbClr val="1F4E9C"/>
                </a:solidFill>
                <a:latin typeface="Malgun Gothic"/>
                <a:ea typeface="Malgun Gothic"/>
              </a:rPr>
              <a:t>즉시 추진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1051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000" b="1" i="0" lang="ko-KR">
                <a:solidFill>
                  <a:srgbClr val="2E9E6B"/>
                </a:solidFill>
                <a:latin typeface="Malgun Gothic"/>
                <a:ea typeface="Malgun Gothic"/>
              </a:rPr>
              <a:t>전략 과제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285231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000" b="1" i="0" lang="ko-KR">
                <a:solidFill>
                  <a:srgbClr val="8A9099"/>
                </a:solidFill>
                <a:latin typeface="Malgun Gothic"/>
                <a:ea typeface="Malgun Gothic"/>
              </a:rPr>
              <a:t>여력 시 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5285231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000" b="1" i="0" lang="ko-KR">
                <a:solidFill>
                  <a:srgbClr val="C0521F"/>
                </a:solidFill>
                <a:latin typeface="Malgun Gothic"/>
                <a:ea typeface="Malgun Gothic"/>
              </a:rPr>
              <a:t>후순위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568756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/>
            <a:r>
              <a:rPr sz="1050" b="1" i="0" lang="ko-KR">
                <a:solidFill>
                  <a:srgbClr val="6B7280"/>
                </a:solidFill>
                <a:latin typeface="Malgun Gothic"/>
                <a:ea typeface="Malgun Gothic"/>
              </a:rPr>
              <a:t>난이도(예산·공사·협의) →</a:t>
            </a:r>
          </a:p>
        </p:txBody>
      </p:sp>
      <p:sp>
        <p:nvSpPr>
          <p:cNvPr id="17" name="TextBox 16"/>
          <p:cNvSpPr txBox="1"/>
          <p:nvPr/>
        </p:nvSpPr>
        <p:spPr>
          <a:xfrm rot="16200000">
            <a:off x="-457199" y="35204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/>
            <a:r>
              <a:rPr sz="1050" b="1" i="0" lang="ko-KR">
                <a:solidFill>
                  <a:srgbClr val="6B7280"/>
                </a:solidFill>
                <a:latin typeface="Malgun Gothic"/>
                <a:ea typeface="Malgun Gothic"/>
              </a:rPr>
              <a:t>효과(체감·정책 기여) →</a:t>
            </a:r>
          </a:p>
        </p:txBody>
      </p:sp>
      <p:sp>
        <p:nvSpPr>
          <p:cNvPr id="18" name="Oval 17"/>
          <p:cNvSpPr/>
          <p:nvPr/>
        </p:nvSpPr>
        <p:spPr>
          <a:xfrm>
            <a:off x="2542032" y="2743199"/>
            <a:ext cx="292608" cy="292608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3511296" y="1975103"/>
            <a:ext cx="292608" cy="292608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2542032" y="1975103"/>
            <a:ext cx="292608" cy="292608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2871215" y="2743199"/>
            <a:ext cx="292608" cy="292608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2" name="Oval 21"/>
          <p:cNvSpPr/>
          <p:nvPr/>
        </p:nvSpPr>
        <p:spPr>
          <a:xfrm>
            <a:off x="3200399" y="2743199"/>
            <a:ext cx="292608" cy="292608"/>
          </a:xfrm>
          <a:prstGeom prst="ellipse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3" name="Oval 22"/>
          <p:cNvSpPr/>
          <p:nvPr/>
        </p:nvSpPr>
        <p:spPr>
          <a:xfrm>
            <a:off x="1572768" y="3511295"/>
            <a:ext cx="292608" cy="292608"/>
          </a:xfrm>
          <a:prstGeom prst="ellipse">
            <a:avLst/>
          </a:prstGeom>
          <a:solidFill>
            <a:srgbClr val="8A9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4" name="Oval 23"/>
          <p:cNvSpPr/>
          <p:nvPr/>
        </p:nvSpPr>
        <p:spPr>
          <a:xfrm>
            <a:off x="2542032" y="3511295"/>
            <a:ext cx="292608" cy="292608"/>
          </a:xfrm>
          <a:prstGeom prst="ellipse">
            <a:avLst/>
          </a:prstGeom>
          <a:solidFill>
            <a:srgbClr val="8A9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7</a:t>
            </a:r>
          </a:p>
        </p:txBody>
      </p:sp>
      <p:sp>
        <p:nvSpPr>
          <p:cNvPr id="25" name="Oval 24"/>
          <p:cNvSpPr/>
          <p:nvPr/>
        </p:nvSpPr>
        <p:spPr>
          <a:xfrm>
            <a:off x="3511296" y="3511295"/>
            <a:ext cx="292608" cy="292608"/>
          </a:xfrm>
          <a:prstGeom prst="ellipse">
            <a:avLst/>
          </a:prstGeom>
          <a:solidFill>
            <a:srgbClr val="C05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8</a:t>
            </a:r>
          </a:p>
        </p:txBody>
      </p:sp>
      <p:sp>
        <p:nvSpPr>
          <p:cNvPr id="26" name="Oval 25"/>
          <p:cNvSpPr/>
          <p:nvPr/>
        </p:nvSpPr>
        <p:spPr>
          <a:xfrm>
            <a:off x="4480559" y="3511295"/>
            <a:ext cx="292608" cy="292608"/>
          </a:xfrm>
          <a:prstGeom prst="ellipse">
            <a:avLst/>
          </a:prstGeom>
          <a:solidFill>
            <a:srgbClr val="C05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9</a:t>
            </a:r>
          </a:p>
        </p:txBody>
      </p:sp>
      <p:sp>
        <p:nvSpPr>
          <p:cNvPr id="27" name="Oval 26"/>
          <p:cNvSpPr/>
          <p:nvPr/>
        </p:nvSpPr>
        <p:spPr>
          <a:xfrm>
            <a:off x="4480559" y="2743199"/>
            <a:ext cx="292608" cy="292608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28" name="Oval 27"/>
          <p:cNvSpPr/>
          <p:nvPr/>
        </p:nvSpPr>
        <p:spPr>
          <a:xfrm>
            <a:off x="5449823" y="2743199"/>
            <a:ext cx="292608" cy="292608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11</a:t>
            </a:r>
          </a:p>
        </p:txBody>
      </p:sp>
      <p:sp>
        <p:nvSpPr>
          <p:cNvPr id="29" name="Oval 28"/>
          <p:cNvSpPr/>
          <p:nvPr/>
        </p:nvSpPr>
        <p:spPr>
          <a:xfrm>
            <a:off x="5449823" y="1975103"/>
            <a:ext cx="292608" cy="292608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12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355080" y="1600200"/>
          <a:ext cx="5340096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2587752"/>
                <a:gridCol w="685800"/>
                <a:gridCol w="777240"/>
                <a:gridCol w="905256"/>
              </a:tblGrid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#</a:t>
                      </a:r>
                    </a:p>
                  </a:txBody>
                  <a:tcPr marL="36576" marR="36576" marT="18288" marB="18288" anchor="ctr">
                    <a:solidFill>
                      <a:srgbClr val="1F3A6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스마트공원 요소</a:t>
                      </a:r>
                    </a:p>
                  </a:txBody>
                  <a:tcPr marL="36576" marR="36576" marT="18288" marB="18288" anchor="ctr">
                    <a:solidFill>
                      <a:srgbClr val="1F3A6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효과</a:t>
                      </a:r>
                    </a:p>
                  </a:txBody>
                  <a:tcPr marL="36576" marR="36576" marT="18288" marB="18288" anchor="ctr">
                    <a:solidFill>
                      <a:srgbClr val="1F3A6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난이도</a:t>
                      </a:r>
                    </a:p>
                  </a:txBody>
                  <a:tcPr marL="36576" marR="36576" marT="18288" marB="18288" anchor="ctr">
                    <a:solidFill>
                      <a:srgbClr val="1F3A6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구분</a:t>
                      </a:r>
                    </a:p>
                  </a:txBody>
                  <a:tcPr marL="36576" marR="36576" marT="18288" marB="18288" anchor="ctr">
                    <a:solidFill>
                      <a:srgbClr val="1F3A68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스마트 가로등(조도 자동제어)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즉시 추진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안전 CCTV·비상벨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전략 과제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쿨링포그·스마트 그늘막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즉시 추진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4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환경 센서(미세먼지·소음·폭염)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즉시 추진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5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보행·이용자 카운터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즉시 추진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8A9099"/>
                          </a:solidFill>
                          <a:latin typeface="Malgun Gothic"/>
                          <a:ea typeface="Malgun Gothic"/>
                        </a:rPr>
                        <a:t>6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공공 와이파이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8A9099"/>
                          </a:solidFill>
                          <a:latin typeface="Malgun Gothic"/>
                          <a:ea typeface="Malgun Gothic"/>
                        </a:rPr>
                        <a:t>여력 시 추진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8A9099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스마트 벤치(태양광 충전)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8A9099"/>
                          </a:solidFill>
                          <a:latin typeface="Malgun Gothic"/>
                          <a:ea typeface="Malgun Gothic"/>
                        </a:rPr>
                        <a:t>여력 시 추진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8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스마트 관수(토양수분 연동)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후순위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다국어·AR 관광 안내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후순위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10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스마트 화장실(재실·청결 관리)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전략 과제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</a:tr>
              <a:tr h="344658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11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빗물 저류·스마트 배수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●●●●●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전략 과제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 wrap="none"/>
                    <a:lstStyle/>
                    <a:p>
                      <a:pPr algn="ctr" eaLnBrk="0"/>
                      <a:r>
                        <a:rPr sz="95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12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 eaLnBrk="0"/>
                      <a:r>
                        <a:rPr sz="95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공원 운영 디지털트윈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1F4E9C"/>
                          </a:solidFill>
                          <a:latin typeface="Malgun Gothic"/>
                          <a:ea typeface="Malgun Gothic"/>
                        </a:rPr>
                        <a:t>●●●●●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800" b="0" i="0" lang="ko-KR">
                          <a:solidFill>
                            <a:srgbClr val="C0521F"/>
                          </a:solidFill>
                          <a:latin typeface="Malgun Gothic"/>
                          <a:ea typeface="Malgun Gothic"/>
                        </a:rPr>
                        <a:t>●●●●●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 eaLnBrk="0"/>
                      <a:r>
                        <a:rPr sz="900" b="1" i="0" lang="ko-KR">
                          <a:solidFill>
                            <a:srgbClr val="2E9E6B"/>
                          </a:solidFill>
                          <a:latin typeface="Malgun Gothic"/>
                          <a:ea typeface="Malgun Gothic"/>
                        </a:rPr>
                        <a:t>전략 과제</a:t>
                      </a:r>
                    </a:p>
                  </a:txBody>
                  <a:tcPr marL="36576" marR="36576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48640" y="59893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0000"/>
              </a:lnSpc>
            </a:pPr>
            <a:r>
              <a:rPr sz="950" b="1" i="0" lang="ko-KR">
                <a:solidFill>
                  <a:srgbClr val="1F4E9C"/>
                </a:solidFill>
                <a:latin typeface="Malgun Gothic"/>
                <a:ea typeface="Malgun Gothic"/>
              </a:rPr>
              <a:t>평가 기준: </a:t>
            </a: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효과 = 이용자 체감·정책 기여도(5점), 난이도 = 예산·공사 규모·관계기관 협의(5점). 문화재 주변 심의가 필요한 항목은 난이도를 한 단계 올려 잡음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950" b="0" i="1" lang="ko-KR">
                <a:solidFill>
                  <a:srgbClr val="6B7280"/>
                </a:solidFill>
                <a:latin typeface="Malgun Gothic"/>
                <a:ea typeface="Malgun Gothic"/>
              </a:rPr>
              <a:t>요소별 대상지 근거·점수는 smartpark_priority.csv(원본) 참조 · 대상지 현황 출처: OpenStreetMap · Overpass API 조회 2026.09.14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274320"/>
            <a:ext cx="91440" cy="292608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46888"/>
            <a:ext cx="6858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/>
            <a:r>
              <a:rPr sz="1400" b="1" i="0" lang="ko-KR" spc="120">
                <a:solidFill>
                  <a:srgbClr val="1F4E9C"/>
                </a:solidFill>
                <a:latin typeface="Malgun Gothic"/>
                <a:ea typeface="Malgun Gothic"/>
              </a:rPr>
              <a:t>과제 ④  산출물·출처 기록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2800" b="1" i="0" lang="ko-KR">
                <a:solidFill>
                  <a:srgbClr val="1F3A68"/>
                </a:solidFill>
                <a:latin typeface="Malgun Gothic"/>
                <a:ea typeface="Malgun Gothic"/>
              </a:rPr>
              <a:t>세 산출물을 어디에 두고, 무엇을 언제 조회했는가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46888"/>
            <a:ext cx="3611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eaLnBrk="0"/>
            <a:r>
              <a:rPr sz="1100" b="0" i="0" lang="ko-KR">
                <a:solidFill>
                  <a:srgbClr val="262B33"/>
                </a:solidFill>
                <a:latin typeface="Malgun Gothic"/>
                <a:ea typeface="Malgun Gothic"/>
              </a:rPr>
              <a:t>스마트도시계획(캡스톤디자인) |</a:t>
            </a:r>
          </a:p>
        </p:txBody>
      </p:sp>
      <p:sp>
        <p:nvSpPr>
          <p:cNvPr id="7" name="Rectangle 6"/>
          <p:cNvSpPr/>
          <p:nvPr/>
        </p:nvSpPr>
        <p:spPr>
          <a:xfrm>
            <a:off x="11384280" y="201168"/>
            <a:ext cx="457200" cy="4572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400" b="1" i="0" lang="ko-KR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300" b="1" i="0" lang="ko-KR">
                <a:solidFill>
                  <a:srgbClr val="1F4E9C"/>
                </a:solidFill>
                <a:latin typeface="Malgun Gothic"/>
                <a:ea typeface="Malgun Gothic"/>
              </a:rPr>
              <a:t>산출물 기록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810512"/>
          <a:ext cx="67665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/>
                <a:gridCol w="2377440"/>
                <a:gridCol w="2816352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과제</a:t>
                      </a:r>
                    </a:p>
                  </a:txBody>
                  <a:tcPr marL="64008" marR="64008" marT="32004" marB="32004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산출물</a:t>
                      </a:r>
                    </a:p>
                  </a:txBody>
                  <a:tcPr marL="64008" marR="64008" marT="32004" marB="32004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파일 · 위치</a:t>
                      </a:r>
                    </a:p>
                  </a:txBody>
                  <a:tcPr marL="64008" marR="64008" marT="32004" marB="32004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조회일</a:t>
                      </a:r>
                    </a:p>
                  </a:txBody>
                  <a:tcPr marL="64008" marR="64008" marT="32004" marB="32004" anchor="ctr">
                    <a:solidFill>
                      <a:srgbClr val="1F3A6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①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개념 다이어그램 — 동심원 이론 대입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과제2주차_산출물.pdf 1쪽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2026.09.14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참고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대상지 현황 지도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PDF 2쪽 · 참고_건물용도지도.html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2026.09.14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권역별(1km 링) 밀도표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PDF 3쪽 · ring_density.csv · ring_density_by_use.csv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2026.09.14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③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스마트공원 요소 우선순위표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PDF 4쪽 · smartpark_priority.csv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2026.09.20 작성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79476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300" b="1" i="0" lang="ko-KR">
                <a:solidFill>
                  <a:srgbClr val="1F4E9C"/>
                </a:solidFill>
                <a:latin typeface="Malgun Gothic"/>
                <a:ea typeface="Malgun Gothic"/>
              </a:rPr>
              <a:t>출처·조회 기록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123944"/>
          <a:ext cx="67665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5532120"/>
              </a:tblGrid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항목</a:t>
                      </a:r>
                    </a:p>
                  </a:txBody>
                  <a:tcPr marL="64008" marR="64008" marT="32004" marB="32004" anchor="ctr"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내용</a:t>
                      </a:r>
                    </a:p>
                  </a:txBody>
                  <a:tcPr marL="64008" marR="64008" marT="32004" marB="32004" anchor="ctr">
                    <a:solidFill>
                      <a:srgbClr val="1F3A68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데이터 출처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OpenStreetMap contributors (ODbL)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수집 도구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Overpass API — overpass-api.de · private.coffee · kumi.systems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조회일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2026.09.14 (수집) · 2026.09.20 (집계·작성)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OSM 기준일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2026.09.14 (timestamp_osm_base)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수집 범위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종로구청 37.5735, 126.9788 기준 반경 5km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수집 건물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39,378동 (way·relation의 building 태그)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질의 원본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data/*.overpassql — 그대로 재실행하면 동일 데이터 수집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ctr" eaLnBrk="0"/>
                      <a:r>
                        <a:rPr sz="1000" b="1" i="0" lang="ko-KR">
                          <a:solidFill>
                            <a:srgbClr val="1F3A68"/>
                          </a:solidFill>
                          <a:latin typeface="Malgun Gothic"/>
                          <a:ea typeface="Malgun Gothic"/>
                        </a:rPr>
                        <a:t>분류 기준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eaLnBrk="0"/>
                      <a:r>
                        <a:rPr sz="1000" b="0" i="0" lang="ko-KR">
                          <a:solidFill>
                            <a:srgbClr val="262B33"/>
                          </a:solidFill>
                          <a:latin typeface="Malgun Gothic"/>
                          <a:ea typeface="Malgun Gothic"/>
                        </a:rPr>
                        <a:t>building 태그 값, building=yes는 미분류로 둠</a:t>
                      </a:r>
                    </a:p>
                  </a:txBody>
                  <a:tcPr marL="64008" marR="64008" marT="32004" marB="32004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635240" y="1481328"/>
            <a:ext cx="4023360" cy="479145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1481328"/>
            <a:ext cx="64008" cy="4791456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6642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1300" b="1" i="0" lang="ko-KR">
                <a:solidFill>
                  <a:srgbClr val="1F4E9C"/>
                </a:solidFill>
                <a:latin typeface="Malgun Gothic"/>
                <a:ea typeface="Malgun Gothic"/>
              </a:rPr>
              <a:t>보관 위치</a:t>
            </a:r>
          </a:p>
        </p:txBody>
      </p:sp>
      <p:sp>
        <p:nvSpPr>
          <p:cNvPr id="15" name="Oval 14"/>
          <p:cNvSpPr/>
          <p:nvPr/>
        </p:nvSpPr>
        <p:spPr>
          <a:xfrm>
            <a:off x="7909560" y="2139696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121408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팀 저장소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github.com/choemyeongwon1-ui/kaya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2주차 산출물과 대시보드를 팀이 함께 관리하는 저장소</a:t>
            </a:r>
          </a:p>
        </p:txBody>
      </p:sp>
      <p:sp>
        <p:nvSpPr>
          <p:cNvPr id="17" name="Oval 16"/>
          <p:cNvSpPr/>
          <p:nvPr/>
        </p:nvSpPr>
        <p:spPr>
          <a:xfrm>
            <a:off x="7909560" y="3209544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191256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제출 폴더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submit/2주차/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PDF·PPTX·표 CSV 3종·참고 지도·Overpass 질의 원본을 한 곳에 모아 둠</a:t>
            </a:r>
          </a:p>
        </p:txBody>
      </p:sp>
      <p:sp>
        <p:nvSpPr>
          <p:cNvPr id="19" name="Oval 18"/>
          <p:cNvSpPr/>
          <p:nvPr/>
        </p:nvSpPr>
        <p:spPr>
          <a:xfrm>
            <a:off x="7909560" y="4279392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4261104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재현 방법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python analyze.py --refresh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python ring_density.py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python build_assignment.py</a:t>
            </a:r>
          </a:p>
        </p:txBody>
      </p:sp>
      <p:sp>
        <p:nvSpPr>
          <p:cNvPr id="21" name="Oval 20"/>
          <p:cNvSpPr/>
          <p:nvPr/>
        </p:nvSpPr>
        <p:spPr>
          <a:xfrm>
            <a:off x="7909560" y="5349240"/>
            <a:ext cx="274320" cy="27432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 eaLnBrk="0"/>
            <a:r>
              <a:rPr sz="1000" b="1" i="0" lang="ko-KR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5330952"/>
            <a:ext cx="3090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15000"/>
              </a:lnSpc>
            </a:pPr>
            <a:r>
              <a:rPr sz="1100" b="1" i="0" lang="ko-KR">
                <a:solidFill>
                  <a:srgbClr val="1F3A68"/>
                </a:solidFill>
                <a:latin typeface="Malgun Gothic"/>
                <a:ea typeface="Malgun Gothic"/>
              </a:rPr>
              <a:t>밝혀 둘 한계</a:t>
            </a:r>
          </a:p>
          <a:p>
            <a:pPr algn="l" eaLnBrk="0">
              <a:lnSpc>
                <a:spcPct val="115000"/>
              </a:lnSpc>
            </a:pPr>
            <a:r>
              <a:rPr sz="950" b="0" i="0" lang="ko-KR">
                <a:solidFill>
                  <a:srgbClr val="262B33"/>
                </a:solidFill>
                <a:latin typeface="Malgun Gothic"/>
                <a:ea typeface="Malgun Gothic"/>
              </a:rPr>
              <a:t>용도 기재율이 권역마다 21.6~32.4%로 달라, 용도별 밀도의 절대 비교는 건축물대장·도시계획현황과 교차검증한 뒤에 확정해야 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922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/>
            <a:r>
              <a:rPr sz="950" b="0" i="1" lang="ko-KR">
                <a:solidFill>
                  <a:srgbClr val="6B7280"/>
                </a:solidFill>
                <a:latin typeface="Malgun Gothic"/>
                <a:ea typeface="Malgun Gothic"/>
              </a:rPr>
              <a:t>출처: OpenStreetMap · Overpass API 조회 2026.09.14 (OSM 기준일 2026.09.14) · 중심 종로구청 37.5735, 126.9788 · 분류 기준 building 태그(building=yes는 미분류) · 표 원본 CSV 동봉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